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36D3EE"/>
                </a:solidFill>
                <a:latin typeface="Aptos Display"/>
              </a:rPr>
              <a:t>AEGIS</a:t>
            </a:r>
          </a:p>
          <a:p>
            <a:r>
              <a:rPr sz="2800" b="1">
                <a:solidFill>
                  <a:srgbClr val="F5F8FC"/>
                </a:solidFill>
              </a:rPr>
              <a:t>Adaptive Capital Resilience &amp;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A6B5C9"/>
                </a:solidFill>
              </a:rPr>
              <a:t>From portfolio optimization to closed-loop capital control.</a:t>
            </a:r>
          </a:p>
          <a:p>
            <a:r>
              <a:rPr sz="1300">
                <a:solidFill>
                  <a:srgbClr val="A6B5C9"/>
                </a:solidFill>
              </a:rPr>
              <a:t>A final solution synthesized from the comparative analysis of both proposed hackathon ideas.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206240"/>
            <a:ext cx="4937760" cy="594360"/>
          </a:xfrm>
          <a:prstGeom prst="round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“Keep capital resilient. Intervene only when necessary.”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Why this final solution?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  <a:latin typeface="Aptos"/>
              </a:rPr>
              <a:t>A fair comparison revealed that the strongest answer is not a copy of either proposal.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566160" cy="320040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36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Solution A — Capital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315467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Strong market intelligence: regime awareness, correlation contagion and reverse stress testing. Highly memorable, but the core philosophy is still centered around adaptive portfolio resilience.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828800"/>
            <a:ext cx="3566160" cy="320040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828800"/>
            <a:ext cx="64008" cy="3200400"/>
          </a:xfrm>
          <a:prstGeom prst="rect">
            <a:avLst/>
          </a:prstGeom>
          <a:solidFill>
            <a:srgbClr val="41D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99339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Solution B — Adaptive Capital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487168"/>
            <a:ext cx="315467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Stronger central philosophy: define a safe operating envelope and use closed-loop control with minimum necessary intervention.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0416" y="1828800"/>
            <a:ext cx="3566160" cy="320040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0416" y="1828800"/>
            <a:ext cx="64008" cy="320040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6" y="199339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Final Synthesis — AEGIS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2487168"/>
            <a:ext cx="315467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Use Solution B as the core idea and selectively add Solution A's strongest intelligence features only where they strengthen the central concept.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The Core Problem Reframed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5120640" cy="356616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64008" cy="356616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10512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Traditional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04288"/>
            <a:ext cx="470915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“What is the optimal portfolio allocation right now?”
Problem: continuous optimization can create unnecessary turnover, transaction costs and overreaction.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20640" cy="356616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645920"/>
            <a:ext cx="64008" cy="3566160"/>
          </a:xfrm>
          <a:prstGeom prst="rect">
            <a:avLst/>
          </a:prstGeom>
          <a:solidFill>
            <a:srgbClr val="36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10512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AEGIS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04288"/>
            <a:ext cx="470915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“Is the current capital system still operating safely—and if not, what is the minimum intervention required to restore resilience?”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Final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  <a:latin typeface="Aptos"/>
              </a:rPr>
              <a:t>AEGIS treats capital allocation as a closed-loop control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1600200" cy="1920240"/>
          </a:xfrm>
          <a:prstGeom prst="roundRect">
            <a:avLst/>
          </a:prstGeom>
          <a:solidFill>
            <a:srgbClr val="102137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5F8FC"/>
                </a:solidFill>
              </a:rPr>
              <a:t>OBSERVE</a:t>
            </a:r>
          </a:p>
          <a:p>
            <a:pPr algn="ctr"/>
            <a:r>
              <a:rPr sz="900">
                <a:solidFill>
                  <a:srgbClr val="A6B5C9"/>
                </a:solidFill>
              </a:rPr>
              <a:t>Monitor market + portfolio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7128" y="2240280"/>
            <a:ext cx="1600200" cy="1920240"/>
          </a:xfrm>
          <a:prstGeom prst="roundRect">
            <a:avLst/>
          </a:prstGeom>
          <a:solidFill>
            <a:srgbClr val="102137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5F8FC"/>
                </a:solidFill>
              </a:rPr>
              <a:t>MEASURE</a:t>
            </a:r>
          </a:p>
          <a:p>
            <a:pPr algn="ctr"/>
            <a:r>
              <a:rPr sz="900">
                <a:solidFill>
                  <a:srgbClr val="A6B5C9"/>
                </a:solidFill>
              </a:rPr>
              <a:t>Quantify risk, liquidity and concentration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31336" y="2240280"/>
            <a:ext cx="1600200" cy="1920240"/>
          </a:xfrm>
          <a:prstGeom prst="roundRect">
            <a:avLst/>
          </a:prstGeom>
          <a:solidFill>
            <a:srgbClr val="102137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5F8FC"/>
                </a:solidFill>
              </a:rPr>
              <a:t>DETECT</a:t>
            </a:r>
          </a:p>
          <a:p>
            <a:pPr algn="ctr"/>
            <a:r>
              <a:rPr sz="900">
                <a:solidFill>
                  <a:srgbClr val="A6B5C9"/>
                </a:solidFill>
              </a:rPr>
              <a:t>Identify regime shifts or safety breaches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95544" y="2240280"/>
            <a:ext cx="1600200" cy="1920240"/>
          </a:xfrm>
          <a:prstGeom prst="roundRect">
            <a:avLst/>
          </a:prstGeom>
          <a:solidFill>
            <a:srgbClr val="102137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5F8FC"/>
                </a:solidFill>
              </a:rPr>
              <a:t>DECIDE</a:t>
            </a:r>
          </a:p>
          <a:p>
            <a:pPr algn="ctr"/>
            <a:r>
              <a:rPr sz="900">
                <a:solidFill>
                  <a:srgbClr val="A6B5C9"/>
                </a:solidFill>
              </a:rPr>
              <a:t>Determine whether intervention is necessary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59752" y="2240280"/>
            <a:ext cx="1600200" cy="1920240"/>
          </a:xfrm>
          <a:prstGeom prst="roundRect">
            <a:avLst/>
          </a:prstGeom>
          <a:solidFill>
            <a:srgbClr val="102137"/>
          </a:solidFill>
          <a:ln>
            <a:solidFill>
              <a:srgbClr val="3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5F8FC"/>
                </a:solidFill>
              </a:rPr>
              <a:t>DEFEND</a:t>
            </a:r>
          </a:p>
          <a:p>
            <a:pPr algn="ctr"/>
            <a:r>
              <a:rPr sz="900">
                <a:solidFill>
                  <a:srgbClr val="A6B5C9"/>
                </a:solidFill>
              </a:rPr>
              <a:t>Apply the minimum effective adjustment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240280"/>
            <a:ext cx="1600200" cy="1920240"/>
          </a:xfrm>
          <a:prstGeom prst="roundRect">
            <a:avLst/>
          </a:prstGeom>
          <a:solidFill>
            <a:srgbClr val="102137"/>
          </a:solidFill>
          <a:ln>
            <a:solidFill>
              <a:srgbClr val="3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5F8FC"/>
                </a:solidFill>
              </a:rPr>
              <a:t>VALIDATE</a:t>
            </a:r>
          </a:p>
          <a:p>
            <a:pPr algn="ctr"/>
            <a:r>
              <a:rPr sz="900">
                <a:solidFill>
                  <a:srgbClr val="A6B5C9"/>
                </a:solidFill>
              </a:rPr>
              <a:t>Verify all constraints before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88168" y="2240280"/>
            <a:ext cx="1600200" cy="1920240"/>
          </a:xfrm>
          <a:prstGeom prst="roundRect">
            <a:avLst/>
          </a:prstGeom>
          <a:solidFill>
            <a:srgbClr val="102137"/>
          </a:solidFill>
          <a:ln>
            <a:solidFill>
              <a:srgbClr val="3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5F8FC"/>
                </a:solidFill>
              </a:rPr>
              <a:t>LEARN</a:t>
            </a:r>
          </a:p>
          <a:p>
            <a:pPr algn="ctr"/>
            <a:r>
              <a:rPr sz="900">
                <a:solidFill>
                  <a:srgbClr val="A6B5C9"/>
                </a:solidFill>
              </a:rPr>
              <a:t>Record decisions and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The Safe Operating Envelope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  <a:latin typeface="Aptos"/>
              </a:rPr>
              <a:t>Capital should operate within dynamic safety boundaries—not chase a new optimum every minute.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383280" cy="356616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64008" cy="3566160"/>
          </a:xfrm>
          <a:prstGeom prst="rect">
            <a:avLst/>
          </a:prstGeom>
          <a:solidFill>
            <a:srgbClr val="41D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105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GREEN — 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Portfolio is inside the safe operating envelope.
Action: Maintain allocation. Avoid unnecessary trading.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45920"/>
            <a:ext cx="3383280" cy="356616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645920"/>
            <a:ext cx="64008" cy="356616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8105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YELLOW / ORANGE — 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304288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Risk is rising or regime conditions are deteriorating.
Action: Tighten the risk budget and prepare defensive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645920"/>
            <a:ext cx="3383280" cy="356616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1856" y="1645920"/>
            <a:ext cx="64008" cy="3566160"/>
          </a:xfrm>
          <a:prstGeom prst="rect">
            <a:avLst/>
          </a:prstGeom>
          <a:solidFill>
            <a:srgbClr val="FF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18105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RED — 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2304288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Hard limits are breached or resilience is compromised.
Action: Minimum-intervention defensive optimization and escalation.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Key Innovation #1 — Minimum Necessary Intervention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D3EE"/>
                </a:solidFill>
              </a:rPr>
              <a:t>Do not ask: “What is globally optimal?”  Ask: “What is the smallest change that restores safety?”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4389120" cy="228600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468880"/>
            <a:ext cx="64008" cy="228600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633472"/>
            <a:ext cx="3977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Generic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27248"/>
            <a:ext cx="397763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A risk event occurs → rebuild the portfolio toward a new mathematical optimum.
Risk: excessive turnover and unrealistic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468880"/>
            <a:ext cx="4389120" cy="228600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468880"/>
            <a:ext cx="64008" cy="2286000"/>
          </a:xfrm>
          <a:prstGeom prst="rect">
            <a:avLst/>
          </a:prstGeom>
          <a:solidFill>
            <a:srgbClr val="41D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633472"/>
            <a:ext cx="3977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AEGIS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127248"/>
            <a:ext cx="397763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A risk event occurs → quantify the breach → change only what is necessary to return inside the safe operating envelope.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Market Intelligence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  <a:latin typeface="Aptos"/>
              </a:rPr>
              <a:t>Selected from Solution A because it strengthens prevention—not because it is flashy.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383280" cy="347472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64008" cy="3474720"/>
          </a:xfrm>
          <a:prstGeom prst="rect">
            <a:avLst/>
          </a:prstGeom>
          <a:solidFill>
            <a:srgbClr val="36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105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Regime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29718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Detect CALM → TRANSITIONAL → CRISIS market conditions using HMM/regime signals plus deterministic safety overrides.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45920"/>
            <a:ext cx="3383280" cy="347472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645920"/>
            <a:ext cx="64008" cy="347472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8105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Correlation Contagion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304288"/>
            <a:ext cx="29718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Reveal hidden concentration where many holdings appear diversified but behave as one correlated risk cluster.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645920"/>
            <a:ext cx="3383280" cy="347472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1856" y="1645920"/>
            <a:ext cx="64008" cy="3474720"/>
          </a:xfrm>
          <a:prstGeom prst="rect">
            <a:avLst/>
          </a:prstGeom>
          <a:solidFill>
            <a:srgbClr val="41D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18105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Adaptive Risk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2304288"/>
            <a:ext cx="29718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Market state dynamically changes permissible exposure, concentration, liquidity reserve and defensive constraints.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Portfolio &amp; Control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5F8FC"/>
                </a:solidFill>
              </a:defRPr>
            </a:pPr>
            <a:r>
              <a:t>Baseline allocation: Hierarchical Risk Parity (HRP) for robust diversification.</a:t>
            </a:r>
          </a:p>
          <a:p>
            <a:pPr>
              <a:spcAft>
                <a:spcPts val="1200"/>
              </a:spcAft>
              <a:defRPr sz="1500">
                <a:solidFill>
                  <a:srgbClr val="F5F8FC"/>
                </a:solidFill>
              </a:defRPr>
            </a:pPr>
            <a:r>
              <a:t>Risk metrics: volatility, VaR/CVaR, drawdown, liquidity and concentration.</a:t>
            </a:r>
          </a:p>
          <a:p>
            <a:pPr>
              <a:spcAft>
                <a:spcPts val="1200"/>
              </a:spcAft>
              <a:defRPr sz="1500">
                <a:solidFill>
                  <a:srgbClr val="F5F8FC"/>
                </a:solidFill>
              </a:defRPr>
            </a:pPr>
            <a:r>
              <a:t>Control logic: thresholds + hysteresis to prevent constant buy/sell chattering.</a:t>
            </a:r>
          </a:p>
          <a:p>
            <a:pPr>
              <a:spcAft>
                <a:spcPts val="1200"/>
              </a:spcAft>
              <a:defRPr sz="1500">
                <a:solidFill>
                  <a:srgbClr val="F5F8FC"/>
                </a:solidFill>
              </a:defRPr>
            </a:pPr>
            <a:r>
              <a:t>Intervention objective: minimize portfolio change + transaction cost while restoring safety.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4754880" cy="356616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64008" cy="3566160"/>
          </a:xfrm>
          <a:prstGeom prst="rect">
            <a:avLst/>
          </a:prstGeom>
          <a:solidFill>
            <a:srgbClr val="36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810512"/>
            <a:ext cx="4343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Conceptual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304288"/>
            <a:ext cx="43434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Minimize:
• Deviation from current allocation
• Transaction costs / turnover
• Residual risk
Subject to:
• CVaR limits
• Liquidity limits
• Concentration limits
• Exposure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The WOW Feature — Reverse Stress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  <a:latin typeface="Aptos"/>
              </a:rPr>
              <a:t>The strongest individual innovation from Solution 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Traditional stress testing asks: “What happens if X occurs?”  AEGIS asks: “What combination of shocks would break us?”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4389120" cy="237744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423160"/>
            <a:ext cx="64008" cy="2377440"/>
          </a:xfrm>
          <a:prstGeom prst="rect">
            <a:avLst/>
          </a:prstGeom>
          <a:solidFill>
            <a:srgbClr val="A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87752"/>
            <a:ext cx="3977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Forward Stress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81528"/>
            <a:ext cx="397763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Input a scenario:
Market -10%
Volatility +25%
Output:
Estimated portfolio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23160"/>
            <a:ext cx="4389120" cy="237744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423160"/>
            <a:ext cx="64008" cy="2377440"/>
          </a:xfrm>
          <a:prstGeom prst="rect">
            <a:avLst/>
          </a:prstGeom>
          <a:solidFill>
            <a:srgbClr val="36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587752"/>
            <a:ext cx="3977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Reverse Stress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081528"/>
            <a:ext cx="397763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Input a failure threshold:
Loss &gt; 15%
Output:
Find the minimum plausible combination of shocks that breaches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Final AEGIS Solution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868680"/>
            <a:ext cx="4846320" cy="475488"/>
          </a:xfrm>
          <a:prstGeom prst="roundRect">
            <a:avLst/>
          </a:prstGeom>
          <a:solidFill>
            <a:srgbClr val="102137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8FC"/>
                </a:solidFill>
              </a:rPr>
              <a:t>Market &amp; Portfolio Data</a:t>
            </a:r>
          </a:p>
        </p:txBody>
      </p:sp>
      <p:sp>
        <p:nvSpPr>
          <p:cNvPr id="4" name="Down Arrow 3"/>
          <p:cNvSpPr/>
          <p:nvPr/>
        </p:nvSpPr>
        <p:spPr>
          <a:xfrm>
            <a:off x="5897880" y="1344168"/>
            <a:ext cx="365760" cy="201168"/>
          </a:xfrm>
          <a:prstGeom prst="downArrow">
            <a:avLst/>
          </a:prstGeom>
          <a:solidFill>
            <a:srgbClr val="A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1554480"/>
            <a:ext cx="4846320" cy="475488"/>
          </a:xfrm>
          <a:prstGeom prst="roundRect">
            <a:avLst/>
          </a:prstGeom>
          <a:solidFill>
            <a:srgbClr val="102137"/>
          </a:solidFill>
          <a:ln>
            <a:solidFill>
              <a:srgbClr val="3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8FC"/>
                </a:solidFill>
              </a:rPr>
              <a:t>Regime + Risk Intelligence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97880" y="2029967"/>
            <a:ext cx="365760" cy="201168"/>
          </a:xfrm>
          <a:prstGeom prst="downArrow">
            <a:avLst/>
          </a:prstGeom>
          <a:solidFill>
            <a:srgbClr val="A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2240280"/>
            <a:ext cx="4846320" cy="475488"/>
          </a:xfrm>
          <a:prstGeom prst="roundRect">
            <a:avLst/>
          </a:prstGeom>
          <a:solidFill>
            <a:srgbClr val="102137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8FC"/>
                </a:solidFill>
              </a:rPr>
              <a:t>Safe Operating Envelope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97880" y="2715768"/>
            <a:ext cx="365760" cy="201168"/>
          </a:xfrm>
          <a:prstGeom prst="downArrow">
            <a:avLst/>
          </a:prstGeom>
          <a:solidFill>
            <a:srgbClr val="A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2926080"/>
            <a:ext cx="4846320" cy="475488"/>
          </a:xfrm>
          <a:prstGeom prst="roundRect">
            <a:avLst/>
          </a:prstGeom>
          <a:solidFill>
            <a:srgbClr val="102137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8FC"/>
                </a:solidFill>
              </a:rPr>
              <a:t>Control Decision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97880" y="3401568"/>
            <a:ext cx="365760" cy="201168"/>
          </a:xfrm>
          <a:prstGeom prst="downArrow">
            <a:avLst/>
          </a:prstGeom>
          <a:solidFill>
            <a:srgbClr val="A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3611880"/>
            <a:ext cx="4846320" cy="475488"/>
          </a:xfrm>
          <a:prstGeom prst="roundRect">
            <a:avLst/>
          </a:prstGeom>
          <a:solidFill>
            <a:srgbClr val="102137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8FC"/>
                </a:solidFill>
              </a:rPr>
              <a:t>Minimum Intervention Optimizer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97880" y="4087368"/>
            <a:ext cx="365760" cy="201168"/>
          </a:xfrm>
          <a:prstGeom prst="downArrow">
            <a:avLst/>
          </a:prstGeom>
          <a:solidFill>
            <a:srgbClr val="A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4297680"/>
            <a:ext cx="4846320" cy="475488"/>
          </a:xfrm>
          <a:prstGeom prst="roundRect">
            <a:avLst/>
          </a:prstGeom>
          <a:solidFill>
            <a:srgbClr val="102137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8FC"/>
                </a:solidFill>
              </a:rPr>
              <a:t>Validator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97880" y="4773168"/>
            <a:ext cx="365760" cy="201168"/>
          </a:xfrm>
          <a:prstGeom prst="downArrow">
            <a:avLst/>
          </a:prstGeom>
          <a:solidFill>
            <a:srgbClr val="A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4983480"/>
            <a:ext cx="4846320" cy="475488"/>
          </a:xfrm>
          <a:prstGeom prst="roundRect">
            <a:avLst/>
          </a:prstGeom>
          <a:solidFill>
            <a:srgbClr val="102137"/>
          </a:solidFill>
          <a:ln>
            <a:solidFill>
              <a:srgbClr val="3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8FC"/>
                </a:solidFill>
              </a:rPr>
              <a:t>Recommendation + Explanation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828800"/>
            <a:ext cx="2468880" cy="137160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1828800"/>
            <a:ext cx="64008" cy="1371600"/>
          </a:xfrm>
          <a:prstGeom prst="rect">
            <a:avLst/>
          </a:prstGeom>
          <a:solidFill>
            <a:srgbClr val="36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993392"/>
            <a:ext cx="2057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Contagion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48716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Runs alongside the control loop to expose hidden correlation clusters.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3200400"/>
            <a:ext cx="2468880" cy="137160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3200400"/>
            <a:ext cx="64008" cy="137160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3364992"/>
            <a:ext cx="2057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Failure Lens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85876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Reverse stress testing asks how close the portfolio is to breaking.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Why This Idea Is Stronger Than Either Original Proposal Alone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3383280" cy="356616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64008" cy="3566160"/>
          </a:xfrm>
          <a:prstGeom prst="rect">
            <a:avLst/>
          </a:prstGeom>
          <a:solidFill>
            <a:srgbClr val="41D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6479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From Solution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58568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✓ Unique core philosophy
✓ Closed-loop control
✓ Safe operating envelope
✓ Minimum intervention
✓ Hysteresis
This remains the foundation.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00200"/>
            <a:ext cx="3383280" cy="356616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07408" y="1600200"/>
            <a:ext cx="64008" cy="3566160"/>
          </a:xfrm>
          <a:prstGeom prst="rect">
            <a:avLst/>
          </a:prstGeom>
          <a:solidFill>
            <a:srgbClr val="36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76479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From Solution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258568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✓ Regime awareness
✓ Correlation contagion
✓ Reverse stress testing
✓ Resilience framing
These add intelligence and memorability.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600200"/>
            <a:ext cx="3383280" cy="3566160"/>
          </a:xfrm>
          <a:prstGeom prst="roundRect">
            <a:avLst/>
          </a:prstGeom>
          <a:solidFill>
            <a:srgbClr val="102137"/>
          </a:solidFill>
          <a:ln>
            <a:solidFill>
              <a:srgbClr val="23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91856" y="1600200"/>
            <a:ext cx="64008" cy="35661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76479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8FC"/>
                </a:solidFill>
              </a:rPr>
              <a:t>Final AEGIS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258568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A6B5C9"/>
                </a:solidFill>
              </a:rPr>
              <a:t>Not “an AI portfolio optimizer.”
A dynamic capital control system that understands market conditions, preserves safety and explains how capital can fail before it does.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Final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F8FC"/>
                </a:solidFill>
              </a:rPr>
              <a:t>AEGIS is an Adaptive Capital Resilience &amp; Control System</a:t>
            </a:r>
          </a:p>
          <a:p>
            <a:pPr algn="ctr"/>
            <a:r>
              <a:rPr sz="1600">
                <a:solidFill>
                  <a:srgbClr val="A6B5C9"/>
                </a:solidFill>
              </a:rPr>
              <a:t>It continuously monitors capital, detects changing risk conditions, maintains a dynamic safe operating envelope, and applies the minimum necessary intervention before resilience is compromised.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931920"/>
            <a:ext cx="8503920" cy="914400"/>
          </a:xfrm>
          <a:prstGeom prst="round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8FC"/>
                </a:solidFill>
              </a:rPr>
              <a:t>“Don’t continuously chase the optimal portfolio. Keep capital resilient—and know how it can fail before it does.”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